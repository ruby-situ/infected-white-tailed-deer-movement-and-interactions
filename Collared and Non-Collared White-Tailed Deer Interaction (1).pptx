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Oswald"/>
      <p:regular r:id="rId42"/>
      <p:bold r:id="rId43"/>
    </p:embeddedFont>
    <p:embeddedFont>
      <p:font typeface="Merriweather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Oswald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Merriweather-regular.fntdata"/><Relationship Id="rId21" Type="http://schemas.openxmlformats.org/officeDocument/2006/relationships/slide" Target="slides/slide16.xml"/><Relationship Id="rId43" Type="http://schemas.openxmlformats.org/officeDocument/2006/relationships/font" Target="fonts/Oswald-bold.fntdata"/><Relationship Id="rId24" Type="http://schemas.openxmlformats.org/officeDocument/2006/relationships/slide" Target="slides/slide19.xml"/><Relationship Id="rId46" Type="http://schemas.openxmlformats.org/officeDocument/2006/relationships/font" Target="fonts/Merriweather-italic.fntdata"/><Relationship Id="rId23" Type="http://schemas.openxmlformats.org/officeDocument/2006/relationships/slide" Target="slides/slide18.xml"/><Relationship Id="rId45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Merriweather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968eee3d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968eee3d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968eee3d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968eee3d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968eee3d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968eee3d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20d466b5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20d466b5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20d466b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20d466b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968eee3d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968eee3d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968eee3d6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968eee3d6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57b3db9f63565b9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57b3db9f63565b9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968eee3d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968eee3d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968eee3d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968eee3d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968eee3d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968eee3d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968eee3d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968eee3d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968eee3d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968eee3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968eee3d6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968eee3d6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968eee3d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968eee3d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968eee3d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968eee3d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968eee3d6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968eee3d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968eee3d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968eee3d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968eee3d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968eee3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968eee3d6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968eee3d6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968eee3d6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968eee3d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968eee3d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968eee3d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968eee3d6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968eee3d6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968eee3d6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968eee3d6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968eee3d6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e968eee3d6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968eee3d6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e968eee3d6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968eee3d6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e968eee3d6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968eee3d6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e968eee3d6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968eee3d6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968eee3d6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968eee3d6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968eee3d6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3945f6f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e3945f6f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968eee3d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e968eee3d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968eee3d6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968eee3d6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968eee3d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968eee3d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968eee3d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e968eee3d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image" Target="../media/image45.png"/><Relationship Id="rId6" Type="http://schemas.openxmlformats.org/officeDocument/2006/relationships/image" Target="../media/image33.png"/><Relationship Id="rId7" Type="http://schemas.openxmlformats.org/officeDocument/2006/relationships/image" Target="../media/image40.png"/><Relationship Id="rId8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367725"/>
            <a:ext cx="8520600" cy="207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An Analysis of Interactions Between Collared and Non-Collared White-Tailed Deer in Staten Island</a:t>
            </a:r>
            <a:endParaRPr sz="35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378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By: Ruby (Huihua) Situ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367725"/>
            <a:ext cx="8520600" cy="454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latin typeface="Impact"/>
                <a:ea typeface="Impact"/>
                <a:cs typeface="Impact"/>
                <a:sym typeface="Impact"/>
              </a:rPr>
              <a:t>Data </a:t>
            </a:r>
            <a:endParaRPr sz="7200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62" name="Google Shape;62;p14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Screenshot (928).png"/>
          <p:cNvPicPr preferRelativeResize="0"/>
          <p:nvPr/>
        </p:nvPicPr>
        <p:blipFill rotWithShape="1">
          <a:blip r:embed="rId3">
            <a:alphaModFix amt="3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0" y="214475"/>
            <a:ext cx="8520600" cy="68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Wildlife Insights 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b="0" l="0" r="0" t="35421"/>
          <a:stretch/>
        </p:blipFill>
        <p:spPr>
          <a:xfrm>
            <a:off x="224050" y="864525"/>
            <a:ext cx="8839198" cy="17072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38250" y="2571750"/>
            <a:ext cx="8467500" cy="21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All images identified and annotated manually (shout out Marc and Nat)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159,034 rows originally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65,320 deer images after </a:t>
            </a:r>
            <a:r>
              <a:rPr lang="en" sz="1800">
                <a:solidFill>
                  <a:schemeClr val="dk1"/>
                </a:solidFill>
              </a:rPr>
              <a:t>removing</a:t>
            </a:r>
            <a:r>
              <a:rPr lang="en" sz="1800">
                <a:solidFill>
                  <a:schemeClr val="dk1"/>
                </a:solidFill>
              </a:rPr>
              <a:t> the BLK images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 deer is blocking most of the camera view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32,386 usable images after removing “bursts”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Multiple images snapped in a burst, all within 1 second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Screenshot 2026-04-27 1738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00" y="2292822"/>
            <a:ext cx="3904350" cy="285067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839713" y="396375"/>
            <a:ext cx="15951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Example of images </a:t>
            </a:r>
            <a:endParaRPr sz="22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77" name="Google Shape;77;p16" title="Screenshot 2026-05-07 230027.png"/>
          <p:cNvPicPr preferRelativeResize="0"/>
          <p:nvPr/>
        </p:nvPicPr>
        <p:blipFill rotWithShape="1">
          <a:blip r:embed="rId4">
            <a:alphaModFix/>
          </a:blip>
          <a:srcRect b="0" l="0" r="8776" t="0"/>
          <a:stretch/>
        </p:blipFill>
        <p:spPr>
          <a:xfrm>
            <a:off x="6496050" y="0"/>
            <a:ext cx="2647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Screenshot 2026-04-27 185903.png"/>
          <p:cNvPicPr preferRelativeResize="0"/>
          <p:nvPr/>
        </p:nvPicPr>
        <p:blipFill rotWithShape="1">
          <a:blip r:embed="rId5">
            <a:alphaModFix/>
          </a:blip>
          <a:srcRect b="0" l="0" r="0" t="7210"/>
          <a:stretch/>
        </p:blipFill>
        <p:spPr>
          <a:xfrm>
            <a:off x="-9500" y="0"/>
            <a:ext cx="2235000" cy="26668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-69950" y="2571750"/>
            <a:ext cx="2235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highlight>
                  <a:srgbClr val="FFD966"/>
                </a:highlight>
                <a:latin typeface="Merriweather"/>
                <a:ea typeface="Merriweather"/>
                <a:cs typeface="Merriweather"/>
                <a:sym typeface="Merriweather"/>
              </a:rPr>
              <a:t>Tagged, no collar</a:t>
            </a:r>
            <a:endParaRPr sz="1800">
              <a:solidFill>
                <a:srgbClr val="FF0000"/>
              </a:solidFill>
              <a:highlight>
                <a:srgbClr val="FFD966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6702525" y="0"/>
            <a:ext cx="2235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highlight>
                  <a:srgbClr val="FFD966"/>
                </a:highlight>
                <a:latin typeface="Merriweather"/>
                <a:ea typeface="Merriweather"/>
                <a:cs typeface="Merriweather"/>
                <a:sym typeface="Merriweather"/>
              </a:rPr>
              <a:t>No tag</a:t>
            </a:r>
            <a:r>
              <a:rPr lang="en" sz="1800">
                <a:solidFill>
                  <a:srgbClr val="FF0000"/>
                </a:solidFill>
                <a:highlight>
                  <a:srgbClr val="FFD966"/>
                </a:highlight>
                <a:latin typeface="Merriweather"/>
                <a:ea typeface="Merriweather"/>
                <a:cs typeface="Merriweather"/>
                <a:sym typeface="Merriweather"/>
              </a:rPr>
              <a:t>, no collar</a:t>
            </a:r>
            <a:endParaRPr sz="1800">
              <a:solidFill>
                <a:srgbClr val="FF0000"/>
              </a:solidFill>
              <a:highlight>
                <a:srgbClr val="FFD966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81" name="Google Shape;81;p16" title="Screenshot 2026-04-27 22015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8642" y="1604650"/>
            <a:ext cx="2714158" cy="35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Screenshot 2026-03-24 175251.png"/>
          <p:cNvPicPr preferRelativeResize="0"/>
          <p:nvPr/>
        </p:nvPicPr>
        <p:blipFill rotWithShape="1">
          <a:blip r:embed="rId7">
            <a:alphaModFix/>
          </a:blip>
          <a:srcRect b="0" l="0" r="12664" t="7210"/>
          <a:stretch/>
        </p:blipFill>
        <p:spPr>
          <a:xfrm>
            <a:off x="2130525" y="0"/>
            <a:ext cx="26479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825175" y="1490013"/>
            <a:ext cx="2235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highlight>
                  <a:srgbClr val="FFD966"/>
                </a:highlight>
                <a:latin typeface="Merriweather"/>
                <a:ea typeface="Merriweather"/>
                <a:cs typeface="Merriweather"/>
                <a:sym typeface="Merriweather"/>
              </a:rPr>
              <a:t>T</a:t>
            </a:r>
            <a:r>
              <a:rPr lang="en" sz="1800">
                <a:solidFill>
                  <a:srgbClr val="FF0000"/>
                </a:solidFill>
                <a:highlight>
                  <a:srgbClr val="FFD966"/>
                </a:highlight>
                <a:latin typeface="Merriweather"/>
                <a:ea typeface="Merriweather"/>
                <a:cs typeface="Merriweather"/>
                <a:sym typeface="Merriweather"/>
              </a:rPr>
              <a:t>agged &amp; Collared</a:t>
            </a:r>
            <a:endParaRPr sz="1800">
              <a:solidFill>
                <a:srgbClr val="FF0000"/>
              </a:solidFill>
              <a:highlight>
                <a:srgbClr val="FFD966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640825" y="1604650"/>
            <a:ext cx="19929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highlight>
                  <a:srgbClr val="FFD966"/>
                </a:highlight>
                <a:latin typeface="Merriweather"/>
                <a:ea typeface="Merriweather"/>
                <a:cs typeface="Merriweather"/>
                <a:sym typeface="Merriweather"/>
              </a:rPr>
              <a:t>C_T + NC_T</a:t>
            </a:r>
            <a:endParaRPr sz="1800">
              <a:solidFill>
                <a:srgbClr val="FF0000"/>
              </a:solidFill>
              <a:highlight>
                <a:srgbClr val="FFD966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highlight>
                  <a:srgbClr val="FFD966"/>
                </a:highlight>
                <a:latin typeface="Merriweather"/>
                <a:ea typeface="Merriweather"/>
                <a:cs typeface="Merriweather"/>
                <a:sym typeface="Merriweather"/>
              </a:rPr>
              <a:t>interaction</a:t>
            </a:r>
            <a:endParaRPr sz="1800">
              <a:solidFill>
                <a:srgbClr val="FF0000"/>
              </a:solidFill>
              <a:highlight>
                <a:srgbClr val="FFD966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40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Methodology</a:t>
            </a:r>
            <a:endParaRPr sz="7200"/>
          </a:p>
        </p:txBody>
      </p:sp>
      <p:pic>
        <p:nvPicPr>
          <p:cNvPr id="90" name="Google Shape;90;p17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 rotWithShape="1">
          <a:blip r:embed="rId4">
            <a:alphaModFix/>
          </a:blip>
          <a:srcRect b="39434" l="0" r="0" t="19122"/>
          <a:stretch/>
        </p:blipFill>
        <p:spPr>
          <a:xfrm>
            <a:off x="28875" y="2379925"/>
            <a:ext cx="4048125" cy="5605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-12" y="1880813"/>
            <a:ext cx="3581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3 minutes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5">
            <a:alphaModFix/>
          </a:blip>
          <a:srcRect b="21936" l="0" r="0" t="0"/>
          <a:stretch/>
        </p:blipFill>
        <p:spPr>
          <a:xfrm>
            <a:off x="0" y="3425225"/>
            <a:ext cx="3895725" cy="6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0" y="2940475"/>
            <a:ext cx="3581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4 </a:t>
            </a:r>
            <a:r>
              <a:rPr lang="en" sz="1800">
                <a:solidFill>
                  <a:schemeClr val="dk1"/>
                </a:solidFill>
              </a:rPr>
              <a:t>minutes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6">
            <a:alphaModFix/>
          </a:blip>
          <a:srcRect b="32859" l="0" r="0" t="15990"/>
          <a:stretch/>
        </p:blipFill>
        <p:spPr>
          <a:xfrm>
            <a:off x="38100" y="4549450"/>
            <a:ext cx="3819525" cy="48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/>
        </p:nvSpPr>
        <p:spPr>
          <a:xfrm>
            <a:off x="0" y="4050350"/>
            <a:ext cx="3581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5</a:t>
            </a:r>
            <a:r>
              <a:rPr lang="en" sz="1800">
                <a:solidFill>
                  <a:schemeClr val="dk1"/>
                </a:solidFill>
              </a:rPr>
              <a:t> minutes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7">
            <a:alphaModFix/>
          </a:blip>
          <a:srcRect b="44516" l="0" r="0" t="6848"/>
          <a:stretch/>
        </p:blipFill>
        <p:spPr>
          <a:xfrm>
            <a:off x="9825" y="1255699"/>
            <a:ext cx="4086225" cy="56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-12" y="703925"/>
            <a:ext cx="3581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1 </a:t>
            </a:r>
            <a:r>
              <a:rPr lang="en" sz="1800">
                <a:solidFill>
                  <a:schemeClr val="dk1"/>
                </a:solidFill>
              </a:rPr>
              <a:t>minute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105075" y="9550"/>
            <a:ext cx="7564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Time intervals </a:t>
            </a:r>
            <a:endParaRPr b="1" sz="2200"/>
          </a:p>
        </p:txBody>
      </p:sp>
      <p:sp>
        <p:nvSpPr>
          <p:cNvPr id="105" name="Google Shape;105;p18"/>
          <p:cNvSpPr/>
          <p:nvPr/>
        </p:nvSpPr>
        <p:spPr>
          <a:xfrm>
            <a:off x="4833000" y="924850"/>
            <a:ext cx="4311000" cy="411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Using time intervals to count interactions </a:t>
            </a:r>
            <a:endParaRPr sz="1800"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Reduce chance of over estimation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 new interaction is counted as when the deers in the image changes or time exceeds a certain time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Decided on 3 minutes as a happy medium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Time vs Markings</a:t>
            </a:r>
            <a:endParaRPr b="1"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125450" y="1510650"/>
            <a:ext cx="4807800" cy="5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New interaction as a result of exceeding time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450" y="2075963"/>
            <a:ext cx="35052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450" y="3635488"/>
            <a:ext cx="35052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125450" y="3052800"/>
            <a:ext cx="4807800" cy="5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New interaction as a result of changing deer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5234250" y="768900"/>
            <a:ext cx="3725100" cy="404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Fairly stable number of interactions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Slightly more interactions due to changing deer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Not a big issue overall</a:t>
            </a:r>
            <a:endParaRPr sz="1600"/>
          </a:p>
          <a:p>
            <a:pPr indent="-3302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Continuing with a combined method of counting new </a:t>
            </a:r>
            <a:r>
              <a:rPr lang="en" sz="1600"/>
              <a:t>interactions</a:t>
            </a:r>
            <a:r>
              <a:rPr lang="en" sz="1600"/>
              <a:t> as a result of </a:t>
            </a:r>
            <a:endParaRPr sz="1600"/>
          </a:p>
          <a:p>
            <a:pPr indent="-3302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exceeding time OR changing deer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101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Separating</a:t>
            </a:r>
            <a:r>
              <a:rPr b="1" lang="en"/>
              <a:t> types of interactions </a:t>
            </a:r>
            <a:endParaRPr b="1"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779950"/>
            <a:ext cx="85206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6 types of interactions involving collared deer, + indicates interaction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be more than one deer in category, but each type of interaction is </a:t>
            </a:r>
            <a:r>
              <a:rPr lang="en">
                <a:solidFill>
                  <a:schemeClr val="dk1"/>
                </a:solidFill>
              </a:rPr>
              <a:t>exclusive.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Collared + Non-Collared but Tagged (</a:t>
            </a:r>
            <a:r>
              <a:rPr lang="en">
                <a:solidFill>
                  <a:schemeClr val="dk1"/>
                </a:solidFill>
              </a:rPr>
              <a:t>Exclusively</a:t>
            </a:r>
            <a:r>
              <a:rPr lang="en">
                <a:solidFill>
                  <a:schemeClr val="dk1"/>
                </a:solidFill>
              </a:rPr>
              <a:t> 1 collared deer)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Collared + Collared </a:t>
            </a:r>
            <a:r>
              <a:rPr i="1" lang="en">
                <a:solidFill>
                  <a:schemeClr val="dk1"/>
                </a:solidFill>
              </a:rPr>
              <a:t>&lt;- EX: Can have more than 2 deer, but everyone in frame is collared</a:t>
            </a:r>
            <a:endParaRPr i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Collared + Non-Collared and Not Tagged </a:t>
            </a:r>
            <a:r>
              <a:rPr lang="en">
                <a:solidFill>
                  <a:schemeClr val="dk1"/>
                </a:solidFill>
              </a:rPr>
              <a:t>(Exclusively 1 collared deer)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Collared + </a:t>
            </a:r>
            <a:r>
              <a:rPr lang="en">
                <a:solidFill>
                  <a:schemeClr val="dk1"/>
                </a:solidFill>
              </a:rPr>
              <a:t>Collared +  Non-Collared and Not Tagged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Collared + Collared +  Non-Collared and Tagged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Collared + Collared +  Non-Collared and Not Tagged + Non-Collared and Tagged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Collared = C, No Collar = NC, Tagged = T, No Tag = 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Allows a deeper look into who is interacting with who 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Mapped out later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3" name="Google Shape;123;p20" title="Screenshot (928).png"/>
          <p:cNvPicPr preferRelativeResize="0"/>
          <p:nvPr/>
        </p:nvPicPr>
        <p:blipFill rotWithShape="1">
          <a:blip r:embed="rId3">
            <a:alphaModFix amt="2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1" title="Screenshot (928).png"/>
          <p:cNvPicPr preferRelativeResize="0"/>
          <p:nvPr/>
        </p:nvPicPr>
        <p:blipFill rotWithShape="1">
          <a:blip r:embed="rId3">
            <a:alphaModFix amt="2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101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Modeling</a:t>
            </a:r>
            <a:endParaRPr b="1"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311700" y="779950"/>
            <a:ext cx="85206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Zero Inflated Negative binomial doesn’t apply </a:t>
            </a:r>
            <a:endParaRPr sz="20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It is meant to be used when “excess zeros are generated by a separate process from the count values and that the excess zeros can be modeled independently”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This data’s zeros/1’s were generated from the same process and doesn’t make sense to model them independently</a:t>
            </a:r>
            <a:endParaRPr sz="18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Negative </a:t>
            </a:r>
            <a:r>
              <a:rPr lang="en" sz="2000">
                <a:solidFill>
                  <a:schemeClr val="dk1"/>
                </a:solidFill>
              </a:rPr>
              <a:t>binomial, Gamma,</a:t>
            </a:r>
            <a:r>
              <a:rPr lang="en" sz="2000">
                <a:solidFill>
                  <a:schemeClr val="dk1"/>
                </a:solidFill>
              </a:rPr>
              <a:t> and binomial were the top choices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Gamma fits better as duration is not exactly count data even </a:t>
            </a:r>
            <a:r>
              <a:rPr lang="en" sz="2000">
                <a:solidFill>
                  <a:schemeClr val="dk1"/>
                </a:solidFill>
              </a:rPr>
              <a:t>though</a:t>
            </a:r>
            <a:r>
              <a:rPr lang="en" sz="2000">
                <a:solidFill>
                  <a:schemeClr val="dk1"/>
                </a:solidFill>
              </a:rPr>
              <a:t> it is whole numbers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ctrTitle"/>
          </p:nvPr>
        </p:nvSpPr>
        <p:spPr>
          <a:xfrm>
            <a:off x="311708" y="11170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latin typeface="Oswald"/>
                <a:ea typeface="Oswald"/>
                <a:cs typeface="Oswald"/>
                <a:sym typeface="Oswald"/>
              </a:rPr>
              <a:t>EDA</a:t>
            </a:r>
            <a:endParaRPr b="1" sz="6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6" name="Google Shape;136;p22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30257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 txBox="1"/>
          <p:nvPr/>
        </p:nvSpPr>
        <p:spPr>
          <a:xfrm>
            <a:off x="5791500" y="1141400"/>
            <a:ext cx="33525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Extreme right skew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Most interactions were a single photo making the duration just 1 second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3" name="Google Shape;143;p23" title="Screenshot (928).png"/>
          <p:cNvPicPr preferRelativeResize="0"/>
          <p:nvPr/>
        </p:nvPicPr>
        <p:blipFill rotWithShape="1">
          <a:blip r:embed="rId4">
            <a:alphaModFix amt="2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750" y="0"/>
            <a:ext cx="84472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/>
          <p:nvPr/>
        </p:nvSpPr>
        <p:spPr>
          <a:xfrm>
            <a:off x="6935750" y="439375"/>
            <a:ext cx="1545600" cy="3481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 = C+C+(NC_T)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 = C + </a:t>
            </a:r>
            <a:r>
              <a:rPr lang="en" sz="1300"/>
              <a:t>C </a:t>
            </a:r>
            <a:r>
              <a:rPr lang="en" sz="1300"/>
              <a:t>+ (NC_NT)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3 = C + C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4 = C + (NC_T)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5 = C + (NC_NT)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6 = C + C + (NC_T)+(NC_NT)</a:t>
            </a:r>
            <a:endParaRPr sz="1300"/>
          </a:p>
        </p:txBody>
      </p:sp>
      <p:sp>
        <p:nvSpPr>
          <p:cNvPr id="150" name="Google Shape;150;p24"/>
          <p:cNvSpPr/>
          <p:nvPr/>
        </p:nvSpPr>
        <p:spPr>
          <a:xfrm>
            <a:off x="6935750" y="439375"/>
            <a:ext cx="1545600" cy="258000"/>
          </a:xfrm>
          <a:prstGeom prst="rect">
            <a:avLst/>
          </a:prstGeom>
          <a:solidFill>
            <a:srgbClr val="D5A6B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Legend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1967625" y="1349125"/>
            <a:ext cx="2822400" cy="16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* Most deer have no tag and no collar, inflating type 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/>
        </p:nvSpPr>
        <p:spPr>
          <a:xfrm>
            <a:off x="94800" y="0"/>
            <a:ext cx="87969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swald"/>
                <a:ea typeface="Oswald"/>
                <a:cs typeface="Oswald"/>
                <a:sym typeface="Oswald"/>
              </a:rPr>
              <a:t>Interactions for individual tagged deer</a:t>
            </a:r>
            <a:endParaRPr sz="25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7" name="Google Shape;157;p25"/>
          <p:cNvPicPr preferRelativeResize="0"/>
          <p:nvPr/>
        </p:nvPicPr>
        <p:blipFill rotWithShape="1">
          <a:blip r:embed="rId3">
            <a:alphaModFix/>
          </a:blip>
          <a:srcRect b="47830" l="0" r="0" t="0"/>
          <a:stretch/>
        </p:blipFill>
        <p:spPr>
          <a:xfrm>
            <a:off x="267025" y="505850"/>
            <a:ext cx="8220075" cy="15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5"/>
          <p:cNvSpPr/>
          <p:nvPr/>
        </p:nvSpPr>
        <p:spPr>
          <a:xfrm>
            <a:off x="94800" y="2172975"/>
            <a:ext cx="8954400" cy="15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64 unique IDs found in interactions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1713-WH had the highest duration of interaction at 1541 seconds from 14 interactions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2135-WH was a close second at 1525 seconds from 10 interactions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119-OR had the highest amount of </a:t>
            </a:r>
            <a:r>
              <a:rPr lang="en"/>
              <a:t>interactions at 53 separate interactions spanning 410 seconds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107-OR was a close second at 51 interactions spanning 862 seconds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also places 107-OR at 3rd place for duration of interaction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/>
          <p:nvPr/>
        </p:nvSpPr>
        <p:spPr>
          <a:xfrm>
            <a:off x="94800" y="3768075"/>
            <a:ext cx="8954400" cy="133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119-OR (collared) had the highest number of interactions with NC_NT deer with 27 (type 5)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109-OR </a:t>
            </a:r>
            <a:r>
              <a:rPr lang="en">
                <a:solidFill>
                  <a:schemeClr val="dk1"/>
                </a:solidFill>
              </a:rPr>
              <a:t>(collared) </a:t>
            </a:r>
            <a:r>
              <a:rPr lang="en"/>
              <a:t>was second with 20 interactions with NC_NT deer (type 5)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107-OR </a:t>
            </a:r>
            <a:r>
              <a:rPr lang="en">
                <a:solidFill>
                  <a:schemeClr val="dk1"/>
                </a:solidFill>
              </a:rPr>
              <a:t>(collared) </a:t>
            </a:r>
            <a:r>
              <a:rPr lang="en"/>
              <a:t>interacted the most with NC_T deer at 32 (type 4)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113-Y (</a:t>
            </a:r>
            <a:r>
              <a:rPr lang="en">
                <a:solidFill>
                  <a:schemeClr val="dk1"/>
                </a:solidFill>
              </a:rPr>
              <a:t>NC_T) </a:t>
            </a:r>
            <a:r>
              <a:rPr lang="en"/>
              <a:t>was a close second at 30 interactions with collared deer (type 4)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311700" y="445025"/>
            <a:ext cx="8520600" cy="436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swald"/>
                <a:ea typeface="Oswald"/>
                <a:cs typeface="Oswald"/>
                <a:sym typeface="Oswald"/>
              </a:rPr>
              <a:t>Analysis</a:t>
            </a:r>
            <a:endParaRPr sz="6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5" name="Google Shape;165;p26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311700" y="310425"/>
            <a:ext cx="8520600" cy="45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600">
                <a:latin typeface="Oswald"/>
                <a:ea typeface="Oswald"/>
                <a:cs typeface="Oswald"/>
                <a:sym typeface="Oswald"/>
              </a:rPr>
              <a:t>Does the proportion of female deer increase the interaction time between collared and non-collared individuals or do seasons have a greater effect? </a:t>
            </a:r>
            <a:endParaRPr sz="36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1" name="Google Shape;171;p27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8" title="Screenshot (928).png"/>
          <p:cNvPicPr preferRelativeResize="0"/>
          <p:nvPr/>
        </p:nvPicPr>
        <p:blipFill rotWithShape="1">
          <a:blip r:embed="rId3">
            <a:alphaModFix amt="3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15200"/>
            <a:ext cx="8520600" cy="5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Data prep</a:t>
            </a:r>
            <a:endParaRPr b="1" sz="2220"/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311700" y="611300"/>
            <a:ext cx="8520600" cy="22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2400">
                <a:solidFill>
                  <a:schemeClr val="dk1"/>
                </a:solidFill>
              </a:rPr>
              <a:t>Removed type 3 interactions (C+C)</a:t>
            </a:r>
            <a:endParaRPr sz="2400">
              <a:solidFill>
                <a:schemeClr val="dk1"/>
              </a:solidFill>
            </a:endParaRPr>
          </a:p>
          <a:p>
            <a:pPr indent="-34671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2400">
                <a:solidFill>
                  <a:schemeClr val="dk1"/>
                </a:solidFill>
              </a:rPr>
              <a:t>Only interested in C+NC interactions</a:t>
            </a:r>
            <a:endParaRPr sz="2400">
              <a:solidFill>
                <a:schemeClr val="dk1"/>
              </a:solidFill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2400">
                <a:solidFill>
                  <a:schemeClr val="dk1"/>
                </a:solidFill>
              </a:rPr>
              <a:t>Extracted the gender from the markings</a:t>
            </a:r>
            <a:endParaRPr sz="2400">
              <a:solidFill>
                <a:schemeClr val="dk1"/>
              </a:solidFill>
            </a:endParaRPr>
          </a:p>
          <a:p>
            <a:pPr indent="-34671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2400">
                <a:solidFill>
                  <a:schemeClr val="dk1"/>
                </a:solidFill>
              </a:rPr>
              <a:t>Count # of females per row</a:t>
            </a:r>
            <a:endParaRPr sz="2400">
              <a:solidFill>
                <a:schemeClr val="dk1"/>
              </a:solidFill>
            </a:endParaRPr>
          </a:p>
          <a:p>
            <a:pPr indent="-34671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2400">
                <a:solidFill>
                  <a:schemeClr val="dk1"/>
                </a:solidFill>
              </a:rPr>
              <a:t># F</a:t>
            </a:r>
            <a:r>
              <a:rPr lang="en" sz="2400">
                <a:solidFill>
                  <a:schemeClr val="dk1"/>
                </a:solidFill>
              </a:rPr>
              <a:t>emale / Total # of Deer  = Proportion of female deer</a:t>
            </a:r>
            <a:endParaRPr sz="2400">
              <a:solidFill>
                <a:schemeClr val="dk1"/>
              </a:solidFill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2400">
                <a:solidFill>
                  <a:schemeClr val="dk1"/>
                </a:solidFill>
              </a:rPr>
              <a:t>Created a seasons column based on the months, not the subproject name </a:t>
            </a:r>
            <a:endParaRPr sz="2000">
              <a:solidFill>
                <a:schemeClr val="dk1"/>
              </a:solidFill>
            </a:endParaRPr>
          </a:p>
        </p:txBody>
      </p:sp>
      <p:grpSp>
        <p:nvGrpSpPr>
          <p:cNvPr id="179" name="Google Shape;179;p28"/>
          <p:cNvGrpSpPr/>
          <p:nvPr/>
        </p:nvGrpSpPr>
        <p:grpSpPr>
          <a:xfrm>
            <a:off x="1174431" y="2717459"/>
            <a:ext cx="6570610" cy="2115065"/>
            <a:chOff x="214488" y="2983475"/>
            <a:chExt cx="5724525" cy="1842713"/>
          </a:xfrm>
        </p:grpSpPr>
        <p:pic>
          <p:nvPicPr>
            <p:cNvPr id="180" name="Google Shape;180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4488" y="2983475"/>
              <a:ext cx="5724525" cy="102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2588" y="3883213"/>
              <a:ext cx="5648325" cy="942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9" title="Screenshot (928).png"/>
          <p:cNvPicPr preferRelativeResize="0"/>
          <p:nvPr/>
        </p:nvPicPr>
        <p:blipFill rotWithShape="1">
          <a:blip r:embed="rId3">
            <a:alphaModFix amt="3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72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Gamma with Full Dataset</a:t>
            </a:r>
            <a:endParaRPr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311700" y="587900"/>
            <a:ext cx="8520600" cy="4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Very high overdispersion, variance much higher than mean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Non-normal data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AIC </a:t>
            </a:r>
            <a:r>
              <a:rPr lang="en" sz="1900">
                <a:solidFill>
                  <a:schemeClr val="dk1"/>
                </a:solidFill>
              </a:rPr>
              <a:t>3831.3 with negative binomial VS </a:t>
            </a:r>
            <a:r>
              <a:rPr lang="en" sz="1900">
                <a:solidFill>
                  <a:schemeClr val="dk1"/>
                </a:solidFill>
              </a:rPr>
              <a:t>AIC 3738 with Gamma </a:t>
            </a:r>
            <a:endParaRPr sz="19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Gamma is a better choice than Negative Binomial</a:t>
            </a:r>
            <a:endParaRPr sz="1700">
              <a:solidFill>
                <a:schemeClr val="dk1"/>
              </a:solidFill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lang="en" sz="1700">
                <a:solidFill>
                  <a:schemeClr val="dk1"/>
                </a:solidFill>
              </a:rPr>
              <a:t>However, the results and graphs were actually almost the same for both models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89" name="Google Shape;189;p29"/>
          <p:cNvPicPr preferRelativeResize="0"/>
          <p:nvPr/>
        </p:nvPicPr>
        <p:blipFill rotWithShape="1">
          <a:blip r:embed="rId4">
            <a:alphaModFix/>
          </a:blip>
          <a:srcRect b="29359" l="0" r="0" t="0"/>
          <a:stretch/>
        </p:blipFill>
        <p:spPr>
          <a:xfrm>
            <a:off x="592925" y="2571756"/>
            <a:ext cx="8239375" cy="2362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0" title="Screenshot (928).png"/>
          <p:cNvPicPr preferRelativeResize="0"/>
          <p:nvPr/>
        </p:nvPicPr>
        <p:blipFill rotWithShape="1">
          <a:blip r:embed="rId3">
            <a:alphaModFix amt="3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7400" y="415975"/>
            <a:ext cx="4836600" cy="2727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" y="2378307"/>
            <a:ext cx="4836601" cy="276519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/>
          <p:nvPr>
            <p:ph type="title"/>
          </p:nvPr>
        </p:nvSpPr>
        <p:spPr>
          <a:xfrm>
            <a:off x="311700" y="72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Gamma </a:t>
            </a:r>
            <a:r>
              <a:rPr lang="en"/>
              <a:t>with Full Dataset</a:t>
            </a:r>
            <a:endParaRPr/>
          </a:p>
        </p:txBody>
      </p:sp>
      <p:sp>
        <p:nvSpPr>
          <p:cNvPr id="198" name="Google Shape;198;p30"/>
          <p:cNvSpPr txBox="1"/>
          <p:nvPr/>
        </p:nvSpPr>
        <p:spPr>
          <a:xfrm>
            <a:off x="1022025" y="1342000"/>
            <a:ext cx="21777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Data is not normally </a:t>
            </a:r>
            <a:r>
              <a:rPr lang="en" sz="1800">
                <a:solidFill>
                  <a:schemeClr val="dk1"/>
                </a:solidFill>
              </a:rPr>
              <a:t>distributed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5883400" y="3473225"/>
            <a:ext cx="279690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Horizontal line so we can assume equal variance, stacking points </a:t>
            </a:r>
            <a:r>
              <a:rPr lang="en" sz="1800">
                <a:solidFill>
                  <a:schemeClr val="dk1"/>
                </a:solidFill>
              </a:rPr>
              <a:t>likely</a:t>
            </a:r>
            <a:r>
              <a:rPr lang="en" sz="1800">
                <a:solidFill>
                  <a:schemeClr val="dk1"/>
                </a:solidFill>
              </a:rPr>
              <a:t> due to seasons being categorical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1" title="Screenshot (928).png"/>
          <p:cNvPicPr preferRelativeResize="0"/>
          <p:nvPr/>
        </p:nvPicPr>
        <p:blipFill rotWithShape="1">
          <a:blip r:embed="rId3">
            <a:alphaModFix amt="3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25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Gamma</a:t>
            </a:r>
            <a:r>
              <a:rPr lang="en"/>
              <a:t> with Full Dataset</a:t>
            </a:r>
            <a:endParaRPr/>
          </a:p>
        </p:txBody>
      </p:sp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311700" y="831475"/>
            <a:ext cx="8520600" cy="16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Proportion of female deer has a </a:t>
            </a:r>
            <a:r>
              <a:rPr lang="en">
                <a:solidFill>
                  <a:schemeClr val="dk1"/>
                </a:solidFill>
              </a:rPr>
              <a:t>significant</a:t>
            </a:r>
            <a:r>
              <a:rPr lang="en">
                <a:solidFill>
                  <a:schemeClr val="dk1"/>
                </a:solidFill>
              </a:rPr>
              <a:t> positive impact on the duration of the interaction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Seasons do not have a significant effect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ANOVA test and log </a:t>
            </a:r>
            <a:r>
              <a:rPr lang="en">
                <a:solidFill>
                  <a:schemeClr val="dk1"/>
                </a:solidFill>
              </a:rPr>
              <a:t>likelihood</a:t>
            </a:r>
            <a:r>
              <a:rPr lang="en">
                <a:solidFill>
                  <a:schemeClr val="dk1"/>
                </a:solidFill>
              </a:rPr>
              <a:t> tests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4689900" y="2448100"/>
            <a:ext cx="445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 can tell seasons has little effect by the log </a:t>
            </a:r>
            <a:r>
              <a:rPr lang="en" sz="1800">
                <a:solidFill>
                  <a:schemeClr val="dk1"/>
                </a:solidFill>
              </a:rPr>
              <a:t>likelihood</a:t>
            </a:r>
            <a:r>
              <a:rPr lang="en" sz="1800">
                <a:solidFill>
                  <a:schemeClr val="dk1"/>
                </a:solidFill>
              </a:rPr>
              <a:t> becoming more negative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08" name="Google Shape;20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075" y="2405800"/>
            <a:ext cx="327660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/>
        </p:nvSpPr>
        <p:spPr>
          <a:xfrm>
            <a:off x="3486300" y="2426500"/>
            <a:ext cx="13611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Fprop+season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Fprop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Season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311700" y="3304974"/>
            <a:ext cx="45846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anova comparison table also showed that adding seasons into the model had no significant effect based on the large p-value.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Adding Fproportion had a </a:t>
            </a:r>
            <a:r>
              <a:rPr lang="en" sz="1800">
                <a:solidFill>
                  <a:schemeClr val="dk1"/>
                </a:solidFill>
              </a:rPr>
              <a:t>significant</a:t>
            </a:r>
            <a:r>
              <a:rPr lang="en" sz="1800">
                <a:solidFill>
                  <a:schemeClr val="dk1"/>
                </a:solidFill>
              </a:rPr>
              <a:t> positive effect on the model fit.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8296" y="3208600"/>
            <a:ext cx="3459676" cy="18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2" title="Screenshot (928).png"/>
          <p:cNvPicPr preferRelativeResize="0"/>
          <p:nvPr/>
        </p:nvPicPr>
        <p:blipFill rotWithShape="1">
          <a:blip r:embed="rId3">
            <a:alphaModFix amt="3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2"/>
          <p:cNvPicPr preferRelativeResize="0"/>
          <p:nvPr/>
        </p:nvPicPr>
        <p:blipFill rotWithShape="1">
          <a:blip r:embed="rId4">
            <a:alphaModFix/>
          </a:blip>
          <a:srcRect b="0" l="0" r="6743" t="0"/>
          <a:stretch/>
        </p:blipFill>
        <p:spPr>
          <a:xfrm>
            <a:off x="4239850" y="2075150"/>
            <a:ext cx="4842450" cy="300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2"/>
          <p:cNvSpPr txBox="1"/>
          <p:nvPr>
            <p:ph type="title"/>
          </p:nvPr>
        </p:nvSpPr>
        <p:spPr>
          <a:xfrm>
            <a:off x="311700" y="158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Questions</a:t>
            </a:r>
            <a:endParaRPr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311700" y="611450"/>
            <a:ext cx="8520600" cy="16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70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5"/>
              <a:buChar char="●"/>
            </a:pPr>
            <a:r>
              <a:rPr lang="en" sz="1865">
                <a:solidFill>
                  <a:schemeClr val="dk1"/>
                </a:solidFill>
              </a:rPr>
              <a:t>Over dispersion remains high when I tested both negative binomial and gamma distribution</a:t>
            </a:r>
            <a:endParaRPr sz="1865">
              <a:solidFill>
                <a:schemeClr val="dk1"/>
              </a:solidFill>
            </a:endParaRPr>
          </a:p>
          <a:p>
            <a:pPr indent="-33528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Char char="○"/>
            </a:pPr>
            <a:r>
              <a:rPr lang="en" sz="1680">
                <a:solidFill>
                  <a:schemeClr val="dk1"/>
                </a:solidFill>
              </a:rPr>
              <a:t>N</a:t>
            </a:r>
            <a:r>
              <a:rPr lang="en" sz="1680">
                <a:solidFill>
                  <a:schemeClr val="dk1"/>
                </a:solidFill>
              </a:rPr>
              <a:t>ot </a:t>
            </a:r>
            <a:r>
              <a:rPr lang="en" sz="1680">
                <a:solidFill>
                  <a:schemeClr val="dk1"/>
                </a:solidFill>
              </a:rPr>
              <a:t>necessarily</a:t>
            </a:r>
            <a:r>
              <a:rPr lang="en" sz="1680">
                <a:solidFill>
                  <a:schemeClr val="dk1"/>
                </a:solidFill>
              </a:rPr>
              <a:t> a problem to have super high overdispersion since gamma works with it well but it is nice to look deeper into it</a:t>
            </a:r>
            <a:endParaRPr sz="1680">
              <a:solidFill>
                <a:schemeClr val="dk1"/>
              </a:solidFill>
            </a:endParaRPr>
          </a:p>
          <a:p>
            <a:pPr indent="-3470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5"/>
              <a:buChar char="●"/>
            </a:pPr>
            <a:r>
              <a:rPr lang="en" sz="1865">
                <a:solidFill>
                  <a:schemeClr val="dk1"/>
                </a:solidFill>
              </a:rPr>
              <a:t>Caused by the extreme proportion of interactions that were captured for 1 second or less</a:t>
            </a:r>
            <a:endParaRPr sz="1865">
              <a:solidFill>
                <a:schemeClr val="dk1"/>
              </a:solidFill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4659925" y="3031400"/>
            <a:ext cx="810900" cy="9876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2"/>
          <p:cNvSpPr txBox="1"/>
          <p:nvPr/>
        </p:nvSpPr>
        <p:spPr>
          <a:xfrm>
            <a:off x="49600" y="3710775"/>
            <a:ext cx="40629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data is non-normal, the overdispersion is expected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400" y="2301825"/>
            <a:ext cx="337185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/>
        </p:nvSpPr>
        <p:spPr>
          <a:xfrm>
            <a:off x="0" y="1001700"/>
            <a:ext cx="9144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Does the proportion of female deer influence the chance of an interaction between collared and non-collared individuals lasting longer than 1 second?</a:t>
            </a:r>
            <a:endParaRPr sz="4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28" name="Google Shape;228;p33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4" title="Screenshot (928).png"/>
          <p:cNvPicPr preferRelativeResize="0"/>
          <p:nvPr/>
        </p:nvPicPr>
        <p:blipFill rotWithShape="1">
          <a:blip r:embed="rId3">
            <a:alphaModFix amt="25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125" y="104525"/>
            <a:ext cx="86677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4"/>
          <p:cNvSpPr txBox="1"/>
          <p:nvPr/>
        </p:nvSpPr>
        <p:spPr>
          <a:xfrm>
            <a:off x="3345300" y="3233050"/>
            <a:ext cx="5798700" cy="16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Proportion of female deer and differing seasons both had no significant influence on the chance of a duration </a:t>
            </a:r>
            <a:r>
              <a:rPr lang="en" sz="1800">
                <a:solidFill>
                  <a:schemeClr val="dk1"/>
                </a:solidFill>
              </a:rPr>
              <a:t>lasting</a:t>
            </a:r>
            <a:r>
              <a:rPr lang="en" sz="1800">
                <a:solidFill>
                  <a:schemeClr val="dk1"/>
                </a:solidFill>
              </a:rPr>
              <a:t> longer than 1 second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Binomial also prevented overdispersion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125" y="3364000"/>
            <a:ext cx="3181600" cy="1348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/>
        </p:nvSpPr>
        <p:spPr>
          <a:xfrm>
            <a:off x="185100" y="632250"/>
            <a:ext cx="8773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swald"/>
                <a:ea typeface="Oswald"/>
                <a:cs typeface="Oswald"/>
                <a:sym typeface="Oswald"/>
              </a:rPr>
              <a:t>D</a:t>
            </a:r>
            <a:r>
              <a:rPr lang="en" sz="4800">
                <a:latin typeface="Oswald"/>
                <a:ea typeface="Oswald"/>
                <a:cs typeface="Oswald"/>
                <a:sym typeface="Oswald"/>
              </a:rPr>
              <a:t>oes the proportion of female deer increase the </a:t>
            </a:r>
            <a:r>
              <a:rPr lang="en" sz="4800">
                <a:latin typeface="Oswald"/>
                <a:ea typeface="Oswald"/>
                <a:cs typeface="Oswald"/>
                <a:sym typeface="Oswald"/>
              </a:rPr>
              <a:t>length</a:t>
            </a:r>
            <a:r>
              <a:rPr lang="en" sz="4800">
                <a:latin typeface="Oswald"/>
                <a:ea typeface="Oswald"/>
                <a:cs typeface="Oswald"/>
                <a:sym typeface="Oswald"/>
              </a:rPr>
              <a:t> of interactions between collared and non-collared individuals in cases that are over 1 second?</a:t>
            </a:r>
            <a:endParaRPr sz="48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42" name="Google Shape;242;p35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6" title="Screenshot (928).png"/>
          <p:cNvPicPr preferRelativeResize="0"/>
          <p:nvPr/>
        </p:nvPicPr>
        <p:blipFill rotWithShape="1">
          <a:blip r:embed="rId3">
            <a:alphaModFix amt="25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6"/>
          <p:cNvSpPr txBox="1"/>
          <p:nvPr/>
        </p:nvSpPr>
        <p:spPr>
          <a:xfrm>
            <a:off x="269675" y="2571750"/>
            <a:ext cx="85293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 proportion of female deer has a </a:t>
            </a:r>
            <a:r>
              <a:rPr lang="en" sz="1800">
                <a:solidFill>
                  <a:schemeClr val="dk1"/>
                </a:solidFill>
              </a:rPr>
              <a:t>significant positive impact on the length of interaction when the interaction is already over 1 second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p-value of 0.0159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Seasons have no significant effect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Overdispersion is still there, but it is lower than when the 1 second interactions were included, and the data is not normal to begin with so it can be acceptable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49" name="Google Shape;249;p36"/>
          <p:cNvPicPr preferRelativeResize="0"/>
          <p:nvPr/>
        </p:nvPicPr>
        <p:blipFill rotWithShape="1">
          <a:blip r:embed="rId4">
            <a:alphaModFix/>
          </a:blip>
          <a:srcRect b="0" l="0" r="4553" t="0"/>
          <a:stretch/>
        </p:blipFill>
        <p:spPr>
          <a:xfrm>
            <a:off x="269675" y="172225"/>
            <a:ext cx="8529300" cy="2361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311700" y="445025"/>
            <a:ext cx="8285400" cy="44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latin typeface="Oswald"/>
                <a:ea typeface="Oswald"/>
                <a:cs typeface="Oswald"/>
                <a:sym typeface="Oswald"/>
              </a:rPr>
              <a:t>Maps </a:t>
            </a:r>
            <a:endParaRPr b="1" sz="6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55" name="Google Shape;255;p37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8"/>
          <p:cNvPicPr preferRelativeResize="0"/>
          <p:nvPr/>
        </p:nvPicPr>
        <p:blipFill rotWithShape="1">
          <a:blip r:embed="rId3">
            <a:alphaModFix/>
          </a:blip>
          <a:srcRect b="0" l="9140" r="0" t="10714"/>
          <a:stretch/>
        </p:blipFill>
        <p:spPr>
          <a:xfrm>
            <a:off x="968856" y="599325"/>
            <a:ext cx="7509520" cy="426415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8"/>
          <p:cNvSpPr txBox="1"/>
          <p:nvPr/>
        </p:nvSpPr>
        <p:spPr>
          <a:xfrm>
            <a:off x="78600" y="9825"/>
            <a:ext cx="88575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Distribution of Collared + No Collar interactions</a:t>
            </a:r>
            <a:endParaRPr sz="2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000" y="572975"/>
            <a:ext cx="7164225" cy="445262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9"/>
          <p:cNvSpPr txBox="1"/>
          <p:nvPr/>
        </p:nvSpPr>
        <p:spPr>
          <a:xfrm>
            <a:off x="418463" y="0"/>
            <a:ext cx="85773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Kernel Density Estimation Map of the Collared + No Collar interactions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273" y="600000"/>
            <a:ext cx="7055029" cy="44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0"/>
          <p:cNvSpPr txBox="1"/>
          <p:nvPr>
            <p:ph type="title"/>
          </p:nvPr>
        </p:nvSpPr>
        <p:spPr>
          <a:xfrm>
            <a:off x="0" y="0"/>
            <a:ext cx="151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</a:t>
            </a:r>
            <a:endParaRPr/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668075" y="286812"/>
            <a:ext cx="7164225" cy="445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845400"/>
            <a:ext cx="5431699" cy="33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1"/>
          <p:cNvSpPr txBox="1"/>
          <p:nvPr/>
        </p:nvSpPr>
        <p:spPr>
          <a:xfrm>
            <a:off x="117250" y="424925"/>
            <a:ext cx="30774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At Least</a:t>
            </a:r>
            <a:r>
              <a:rPr lang="en" sz="1800">
                <a:solidFill>
                  <a:schemeClr val="dk2"/>
                </a:solidFill>
              </a:rPr>
              <a:t> 2 collared + </a:t>
            </a:r>
            <a:r>
              <a:rPr lang="en" sz="1800">
                <a:solidFill>
                  <a:schemeClr val="dk2"/>
                </a:solidFill>
              </a:rPr>
              <a:t>at least</a:t>
            </a:r>
            <a:r>
              <a:rPr lang="en" sz="1800">
                <a:solidFill>
                  <a:schemeClr val="dk2"/>
                </a:solidFill>
              </a:rPr>
              <a:t> 1 no collar, no tag deer  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 + C + NC_NT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1" name="Google Shape;28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3975" y="0"/>
            <a:ext cx="5020025" cy="321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1"/>
          <p:cNvSpPr txBox="1"/>
          <p:nvPr/>
        </p:nvSpPr>
        <p:spPr>
          <a:xfrm>
            <a:off x="5910375" y="3311775"/>
            <a:ext cx="3077400" cy="15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At least 2 collared deer interacting without any non-collared deer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 + 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3" name="Google Shape;283;p41"/>
          <p:cNvSpPr txBox="1"/>
          <p:nvPr/>
        </p:nvSpPr>
        <p:spPr>
          <a:xfrm>
            <a:off x="1978250" y="864575"/>
            <a:ext cx="503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chemeClr val="dk2"/>
                </a:solidFill>
              </a:rPr>
              <a:t>↓</a:t>
            </a:r>
            <a:endParaRPr b="1" sz="4700"/>
          </a:p>
        </p:txBody>
      </p:sp>
      <p:sp>
        <p:nvSpPr>
          <p:cNvPr id="284" name="Google Shape;284;p41"/>
          <p:cNvSpPr txBox="1"/>
          <p:nvPr/>
        </p:nvSpPr>
        <p:spPr>
          <a:xfrm rot="10800000">
            <a:off x="8343875" y="3376250"/>
            <a:ext cx="503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chemeClr val="dk2"/>
                </a:solidFill>
              </a:rPr>
              <a:t>↓</a:t>
            </a:r>
            <a:endParaRPr b="1" sz="47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72251"/>
            <a:ext cx="4419601" cy="297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2"/>
          <p:cNvSpPr txBox="1"/>
          <p:nvPr/>
        </p:nvSpPr>
        <p:spPr>
          <a:xfrm>
            <a:off x="190525" y="761950"/>
            <a:ext cx="3077400" cy="13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At Least 2 collared + at least 1 no collar, tagged deer  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 + C + NC_T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1" name="Google Shape;291;p42"/>
          <p:cNvSpPr txBox="1"/>
          <p:nvPr/>
        </p:nvSpPr>
        <p:spPr>
          <a:xfrm>
            <a:off x="2051525" y="1201600"/>
            <a:ext cx="503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chemeClr val="dk2"/>
                </a:solidFill>
              </a:rPr>
              <a:t>↓</a:t>
            </a:r>
            <a:endParaRPr b="1" sz="4700"/>
          </a:p>
        </p:txBody>
      </p:sp>
      <p:pic>
        <p:nvPicPr>
          <p:cNvPr id="292" name="Google Shape;29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2201" y="137725"/>
            <a:ext cx="4419599" cy="321046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2"/>
          <p:cNvSpPr txBox="1"/>
          <p:nvPr/>
        </p:nvSpPr>
        <p:spPr>
          <a:xfrm>
            <a:off x="5426800" y="3443675"/>
            <a:ext cx="2784300" cy="15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collared deer interacting with atleast 1 non-collared deer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 + NC_T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4" name="Google Shape;294;p42"/>
          <p:cNvSpPr txBox="1"/>
          <p:nvPr/>
        </p:nvSpPr>
        <p:spPr>
          <a:xfrm rot="10800000">
            <a:off x="7860300" y="3508150"/>
            <a:ext cx="503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chemeClr val="dk2"/>
                </a:solidFill>
              </a:rPr>
              <a:t>↓</a:t>
            </a:r>
            <a:endParaRPr b="1" sz="47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8600" y="1395675"/>
            <a:ext cx="4307251" cy="312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3"/>
          <p:cNvSpPr txBox="1"/>
          <p:nvPr/>
        </p:nvSpPr>
        <p:spPr>
          <a:xfrm>
            <a:off x="2657250" y="127000"/>
            <a:ext cx="3619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collared deer interacting with at least 1 uncollared, untagged deer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 + NC_NT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/>
          <p:nvPr>
            <p:ph type="title"/>
          </p:nvPr>
        </p:nvSpPr>
        <p:spPr>
          <a:xfrm>
            <a:off x="311700" y="95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Vs Night C + NC interaction frequency</a:t>
            </a:r>
            <a:endParaRPr/>
          </a:p>
        </p:txBody>
      </p:sp>
      <p:grpSp>
        <p:nvGrpSpPr>
          <p:cNvPr id="306" name="Google Shape;306;p44"/>
          <p:cNvGrpSpPr/>
          <p:nvPr/>
        </p:nvGrpSpPr>
        <p:grpSpPr>
          <a:xfrm>
            <a:off x="4676416" y="1028704"/>
            <a:ext cx="4528239" cy="3860692"/>
            <a:chOff x="3772857" y="223104"/>
            <a:chExt cx="5121284" cy="4366311"/>
          </a:xfrm>
        </p:grpSpPr>
        <p:pic>
          <p:nvPicPr>
            <p:cNvPr id="307" name="Google Shape;307;p44"/>
            <p:cNvPicPr preferRelativeResize="0"/>
            <p:nvPr/>
          </p:nvPicPr>
          <p:blipFill rotWithShape="1">
            <a:blip r:embed="rId3">
              <a:alphaModFix/>
            </a:blip>
            <a:srcRect b="0" l="11402" r="0" t="0"/>
            <a:stretch/>
          </p:blipFill>
          <p:spPr>
            <a:xfrm>
              <a:off x="3772857" y="1017719"/>
              <a:ext cx="4972702" cy="35716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44"/>
            <p:cNvPicPr preferRelativeResize="0"/>
            <p:nvPr/>
          </p:nvPicPr>
          <p:blipFill rotWithShape="1">
            <a:blip r:embed="rId4">
              <a:alphaModFix/>
            </a:blip>
            <a:srcRect b="0" l="8751" r="0" t="0"/>
            <a:stretch/>
          </p:blipFill>
          <p:spPr>
            <a:xfrm>
              <a:off x="3772857" y="223104"/>
              <a:ext cx="5121284" cy="114028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9" name="Google Shape;309;p44"/>
          <p:cNvGrpSpPr/>
          <p:nvPr/>
        </p:nvGrpSpPr>
        <p:grpSpPr>
          <a:xfrm>
            <a:off x="11" y="892518"/>
            <a:ext cx="4676576" cy="3949283"/>
            <a:chOff x="311700" y="1017725"/>
            <a:chExt cx="4216550" cy="3560800"/>
          </a:xfrm>
        </p:grpSpPr>
        <p:pic>
          <p:nvPicPr>
            <p:cNvPr id="310" name="Google Shape;310;p44" title="Screenshot 2026-05-20 104436.png"/>
            <p:cNvPicPr preferRelativeResize="0"/>
            <p:nvPr/>
          </p:nvPicPr>
          <p:blipFill rotWithShape="1">
            <a:blip r:embed="rId5">
              <a:alphaModFix/>
            </a:blip>
            <a:srcRect b="0" l="8114" r="0" t="0"/>
            <a:stretch/>
          </p:blipFill>
          <p:spPr>
            <a:xfrm>
              <a:off x="311700" y="1740750"/>
              <a:ext cx="4216550" cy="2837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44"/>
            <p:cNvPicPr preferRelativeResize="0"/>
            <p:nvPr/>
          </p:nvPicPr>
          <p:blipFill rotWithShape="1">
            <a:blip r:embed="rId6">
              <a:alphaModFix/>
            </a:blip>
            <a:srcRect b="0" l="11111" r="0" t="0"/>
            <a:stretch/>
          </p:blipFill>
          <p:spPr>
            <a:xfrm>
              <a:off x="311700" y="1017725"/>
              <a:ext cx="3919276" cy="902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44"/>
          <p:cNvSpPr/>
          <p:nvPr/>
        </p:nvSpPr>
        <p:spPr>
          <a:xfrm flipH="1" rot="10800000">
            <a:off x="-60600" y="2287000"/>
            <a:ext cx="372300" cy="2009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4"/>
          <p:cNvSpPr txBox="1"/>
          <p:nvPr/>
        </p:nvSpPr>
        <p:spPr>
          <a:xfrm>
            <a:off x="0" y="1647000"/>
            <a:ext cx="13296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Extras points here at night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14" name="Google Shape;314;p44"/>
          <p:cNvSpPr/>
          <p:nvPr/>
        </p:nvSpPr>
        <p:spPr>
          <a:xfrm flipH="1" rot="10800000">
            <a:off x="4676425" y="2484050"/>
            <a:ext cx="372300" cy="2009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4"/>
          <p:cNvSpPr txBox="1"/>
          <p:nvPr/>
        </p:nvSpPr>
        <p:spPr>
          <a:xfrm>
            <a:off x="4676575" y="1857900"/>
            <a:ext cx="122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None during the day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16" name="Google Shape;316;p44"/>
          <p:cNvSpPr/>
          <p:nvPr/>
        </p:nvSpPr>
        <p:spPr>
          <a:xfrm>
            <a:off x="1914088" y="3785200"/>
            <a:ext cx="848400" cy="134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4"/>
          <p:cNvSpPr txBox="1"/>
          <p:nvPr/>
        </p:nvSpPr>
        <p:spPr>
          <a:xfrm>
            <a:off x="2857450" y="2832700"/>
            <a:ext cx="13296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Relatively</a:t>
            </a:r>
            <a:r>
              <a:rPr lang="en" sz="1800">
                <a:solidFill>
                  <a:schemeClr val="dk1"/>
                </a:solidFill>
              </a:rPr>
              <a:t> darker points in </a:t>
            </a:r>
            <a:r>
              <a:rPr lang="en" sz="1800">
                <a:solidFill>
                  <a:schemeClr val="dk1"/>
                </a:solidFill>
              </a:rPr>
              <a:t>residential</a:t>
            </a:r>
            <a:r>
              <a:rPr lang="en" sz="1800">
                <a:solidFill>
                  <a:schemeClr val="dk1"/>
                </a:solidFill>
              </a:rPr>
              <a:t> areas at night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311700" y="332400"/>
            <a:ext cx="8520600" cy="44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swald"/>
                <a:ea typeface="Oswald"/>
                <a:cs typeface="Oswald"/>
                <a:sym typeface="Oswald"/>
              </a:rPr>
              <a:t>Findings</a:t>
            </a:r>
            <a:endParaRPr sz="6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23" name="Google Shape;323;p45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46" title="Screenshot (928).png"/>
          <p:cNvPicPr preferRelativeResize="0"/>
          <p:nvPr/>
        </p:nvPicPr>
        <p:blipFill rotWithShape="1">
          <a:blip r:embed="rId3">
            <a:alphaModFix amt="25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6"/>
          <p:cNvSpPr txBox="1"/>
          <p:nvPr>
            <p:ph idx="1" type="body"/>
          </p:nvPr>
        </p:nvSpPr>
        <p:spPr>
          <a:xfrm>
            <a:off x="311700" y="273550"/>
            <a:ext cx="8520600" cy="46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Heat map showed similar results to the frequency map but image was much less clear</a:t>
            </a:r>
            <a:endParaRPr sz="2400">
              <a:solidFill>
                <a:schemeClr val="dk1"/>
              </a:solidFill>
            </a:endParaRPr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000">
                <a:solidFill>
                  <a:schemeClr val="dk1"/>
                </a:solidFill>
              </a:rPr>
              <a:t>I did not put it in the slides as it did not give any new </a:t>
            </a:r>
            <a:r>
              <a:rPr lang="en" sz="2000">
                <a:solidFill>
                  <a:schemeClr val="dk1"/>
                </a:solidFill>
              </a:rPr>
              <a:t>information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C + NC interactions were much less frequent at night</a:t>
            </a:r>
            <a:endParaRPr sz="2400">
              <a:solidFill>
                <a:schemeClr val="dk1"/>
              </a:solidFill>
            </a:endParaRPr>
          </a:p>
          <a:p>
            <a:pPr indent="-36957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Interactions move more towards Richmond Creek at night</a:t>
            </a:r>
            <a:endParaRPr sz="2400">
              <a:solidFill>
                <a:schemeClr val="dk1"/>
              </a:solidFill>
            </a:endParaRPr>
          </a:p>
          <a:p>
            <a:pPr indent="-36957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Interactions appear more frequent towards water sources and residential areas at night</a:t>
            </a:r>
            <a:endParaRPr sz="2400">
              <a:solidFill>
                <a:schemeClr val="dk1"/>
              </a:solidFill>
            </a:endParaRPr>
          </a:p>
          <a:p>
            <a:pPr indent="-36957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2400">
                <a:solidFill>
                  <a:schemeClr val="dk1"/>
                </a:solidFill>
              </a:rPr>
              <a:t>Looking at the darker dots on each map</a:t>
            </a: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KDE map and the frequency map are similar, but not exactly in the same spots</a:t>
            </a:r>
            <a:endParaRPr sz="2400">
              <a:solidFill>
                <a:schemeClr val="dk1"/>
              </a:solidFill>
            </a:endParaRPr>
          </a:p>
          <a:p>
            <a:pPr indent="-36957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The KDE estimates where the distribution of interactions likely is, showing the hotspots in yellow </a:t>
            </a:r>
            <a:endParaRPr sz="2400">
              <a:solidFill>
                <a:schemeClr val="dk1"/>
              </a:solidFill>
            </a:endParaRPr>
          </a:p>
          <a:p>
            <a:pPr indent="-36957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Centered around the golf course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47" title="Screenshot (928).png"/>
          <p:cNvPicPr preferRelativeResize="0"/>
          <p:nvPr/>
        </p:nvPicPr>
        <p:blipFill rotWithShape="1">
          <a:blip r:embed="rId3">
            <a:alphaModFix amt="25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7"/>
          <p:cNvSpPr txBox="1"/>
          <p:nvPr>
            <p:ph idx="1" type="body"/>
          </p:nvPr>
        </p:nvSpPr>
        <p:spPr>
          <a:xfrm>
            <a:off x="311700" y="112350"/>
            <a:ext cx="8832300" cy="47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The proportion of female deer in an </a:t>
            </a:r>
            <a:r>
              <a:rPr lang="en" sz="2400">
                <a:solidFill>
                  <a:schemeClr val="dk1"/>
                </a:solidFill>
              </a:rPr>
              <a:t>interaction</a:t>
            </a:r>
            <a:r>
              <a:rPr lang="en" sz="2400">
                <a:solidFill>
                  <a:schemeClr val="dk1"/>
                </a:solidFill>
              </a:rPr>
              <a:t> has a significant positive </a:t>
            </a:r>
            <a:r>
              <a:rPr lang="en" sz="2400">
                <a:solidFill>
                  <a:schemeClr val="dk1"/>
                </a:solidFill>
              </a:rPr>
              <a:t>effect</a:t>
            </a:r>
            <a:r>
              <a:rPr lang="en" sz="2400">
                <a:solidFill>
                  <a:schemeClr val="dk1"/>
                </a:solidFill>
              </a:rPr>
              <a:t> on the interaction </a:t>
            </a:r>
            <a:r>
              <a:rPr lang="en" sz="2400">
                <a:solidFill>
                  <a:schemeClr val="dk1"/>
                </a:solidFill>
              </a:rPr>
              <a:t>duration</a:t>
            </a:r>
            <a:endParaRPr sz="24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It also has a significant positive effect on length of interaction in cases where the interaction already exceeds 1 second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It has no significant effect on the probability of an interaction exceeding 1 second</a:t>
            </a:r>
            <a:endParaRPr sz="20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Seasons have no significant effect on interaction duration or probability of an interaction exceeding 1 second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81.86% of interactions were from March → May, aka Spring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Using months to determine season, not the subproject name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Made doing seasonal analysis not very feasible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48" title="Screenshot (928).png"/>
          <p:cNvPicPr preferRelativeResize="0"/>
          <p:nvPr/>
        </p:nvPicPr>
        <p:blipFill rotWithShape="1">
          <a:blip r:embed="rId3">
            <a:alphaModFix amt="40000"/>
          </a:blip>
          <a:srcRect b="15272" l="6866" r="24125" t="213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8" title="Screenshot 2026-03-07 171721.png"/>
          <p:cNvPicPr preferRelativeResize="0"/>
          <p:nvPr/>
        </p:nvPicPr>
        <p:blipFill rotWithShape="1">
          <a:blip r:embed="rId4">
            <a:alphaModFix/>
          </a:blip>
          <a:srcRect b="0" l="0" r="32877" t="14574"/>
          <a:stretch/>
        </p:blipFill>
        <p:spPr>
          <a:xfrm>
            <a:off x="7093425" y="0"/>
            <a:ext cx="205057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8" title="Screenshot (817).png"/>
          <p:cNvPicPr preferRelativeResize="0"/>
          <p:nvPr/>
        </p:nvPicPr>
        <p:blipFill rotWithShape="1">
          <a:blip r:embed="rId5">
            <a:alphaModFix/>
          </a:blip>
          <a:srcRect b="10445" l="23556" r="43853" t="41087"/>
          <a:stretch/>
        </p:blipFill>
        <p:spPr>
          <a:xfrm>
            <a:off x="0" y="3030100"/>
            <a:ext cx="2526374" cy="2113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8" title="Screenshot (809).png"/>
          <p:cNvPicPr preferRelativeResize="0"/>
          <p:nvPr/>
        </p:nvPicPr>
        <p:blipFill rotWithShape="1">
          <a:blip r:embed="rId6">
            <a:alphaModFix/>
          </a:blip>
          <a:srcRect b="11333" l="5033" r="53131" t="16802"/>
          <a:stretch/>
        </p:blipFill>
        <p:spPr>
          <a:xfrm>
            <a:off x="0" y="0"/>
            <a:ext cx="2306602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8" title="Screenshot (898).png"/>
          <p:cNvPicPr preferRelativeResize="0"/>
          <p:nvPr/>
        </p:nvPicPr>
        <p:blipFill rotWithShape="1">
          <a:blip r:embed="rId7">
            <a:alphaModFix/>
          </a:blip>
          <a:srcRect b="16158" l="6891" r="70683" t="52644"/>
          <a:stretch/>
        </p:blipFill>
        <p:spPr>
          <a:xfrm>
            <a:off x="7093425" y="3538850"/>
            <a:ext cx="2050574" cy="160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8" title="Screenshot 2026-05-10 14383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13224" y="979801"/>
            <a:ext cx="3973575" cy="3395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8"/>
          <p:cNvSpPr txBox="1"/>
          <p:nvPr>
            <p:ph type="title"/>
          </p:nvPr>
        </p:nvSpPr>
        <p:spPr>
          <a:xfrm>
            <a:off x="439700" y="764850"/>
            <a:ext cx="8520600" cy="44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Thank you!</a:t>
            </a:r>
            <a:endParaRPr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